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8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尊敬的各位评委老师，大家好。今天汇报的是多协议统一终端 PUT。
核心思路是把 Linux 大核的适配能力与 FreeRTOS 小核的实时性结合起来，形成面向车载与工业现场的多协议智能网关。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这一页讲痛点：现场最难的不是单一协议，而是多协议、多接口、多时序要求同时存在。
PUT 的价值就是把协议差异留在大核，把实时路由交给小核。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这一页要强调项目不是纸面设计，而是从 v1 原型发现限制，再升级到 v2 主线架构。
v2 的关键是可变长、零拷贝和小核全内存路由。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这一页是总架构。Linux 处理外部接口和大吞吐，FreeRTOS 处理实时调度。
共享内存承载数据，Mailbox 只当门铃，从而避免把邮箱变成低吞吐的数据通道。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这一页讲解耦。anyMSG 统一内部数据模型，C 适配器隔离外部协议差异。
评委如果问扩展性，回答新增协议只需要新增适配器，小核核心不变。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这一页是硬核实现页。要突出 put_shm_region_t 的 ABI 布局。
核心是大核写一次数据，小核只搬描述符；Reclaim 环负责资源回收。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这一页展示小核作为实时调度大脑。
重点讲 P0 到 P3 的优先级和 16:12:8:4 的动态配额，说明既保证实时控制，又不让低优先级完全饥饿。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这一页讲运维能力。强调 Web 旁路只读，不干扰主链路。
异常指标覆盖接入层、共享内存、小核路由、资源回收和系统状态。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这一页强调工程素养。Nix 让环境可复现，CMake/ctest 让测试和构建自动化。
比赛答辩时，工程落地页能区分 PPT 项目和真正可交付项目。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这一页讲应用场景：车载和工业两条主线。
不要夸大市场数字，重点讲架构复用、降本、实时和国产化价值。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最后总结不要再展开技术细节，快速回扣四个成果：anyMSG、AMP 双核、共享内存、工程化。
结束语要自信，进入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这一页讲低功耗控制边界。C51 是独立的唤醒控制核心，不进入 anyMSG、共享内存 IPC 和小核路由主链路。</a:t>
            </a:r>
          </a:p>
          <a:p>
            <a:r>
              <a:t>系统空闲时，外部功耗管理电路门控 Milk‑V Duo 的高能耗电源域，整机只保留 C51 进行微安级监听。</a:t>
            </a:r>
          </a:p>
          <a:p>
            <a:r>
              <a:t>当 CAN、RS485 或传感器触发时，C51 硬拉起 PMIC，主控完成秒级启动和初始化，再把总线控制权安全移交回 Linux 接入层。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tech_sci_fi_electronics_tech_produc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>
              <a:alpha val="82000"/>
            </a:srgbClr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6101A">
              <a:alpha val="91000"/>
            </a:srgbClr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01968" y="1143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多协议统一终端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601968" y="18105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882128" y="19385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基于异构多核架构的 anyMSG 智能网关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20256" y="2761488"/>
            <a:ext cx="4251960" cy="256032"/>
          </a:xfrm>
          <a:prstGeom prst="rect">
            <a:avLst/>
          </a:prstGeom>
          <a:solidFill>
            <a:srgbClr val="00F5FF">
              <a:alpha val="12000"/>
            </a:srgbClr>
          </a:solidFill>
          <a:ln w="11430">
            <a:solidFill>
              <a:srgbClr val="00F5FF">
                <a:alpha val="88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Milk-V Duo 256M · 双核异构 RISC-V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6620256" y="3236976"/>
            <a:ext cx="4251960" cy="256032"/>
          </a:xfrm>
          <a:prstGeom prst="rect">
            <a:avLst/>
          </a:prstGeom>
          <a:solidFill>
            <a:srgbClr val="66FF8A">
              <a:alpha val="12000"/>
            </a:srgbClr>
          </a:solidFill>
          <a:ln w="11430">
            <a:solidFill>
              <a:srgbClr val="66FF8A">
                <a:alpha val="88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Linux 大核负责多物理接口收发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6620256" y="3712464"/>
            <a:ext cx="4251960" cy="256032"/>
          </a:xfrm>
          <a:prstGeom prst="rect">
            <a:avLst/>
          </a:prstGeom>
          <a:solidFill>
            <a:srgbClr val="FFD25A">
              <a:alpha val="12000"/>
            </a:srgbClr>
          </a:solidFill>
          <a:ln w="11430">
            <a:solidFill>
              <a:srgbClr val="FFD25A">
                <a:alpha val="88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FreeRTOS 小核负责实时路由调度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6620256" y="4187952"/>
            <a:ext cx="4251960" cy="256032"/>
          </a:xfrm>
          <a:prstGeom prst="rect">
            <a:avLst/>
          </a:prstGeom>
          <a:solidFill>
            <a:srgbClr val="FF704D">
              <a:alpha val="12000"/>
            </a:srgbClr>
          </a:solidFill>
          <a:ln w="11430">
            <a:solidFill>
              <a:srgbClr val="FF704D">
                <a:alpha val="88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70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共享内存 v2 · Frame Pool + Descriptor Ring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6601968" y="5166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40B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01968" y="5550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anyMSG 帧头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065008" y="5166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FF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12路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065008" y="5550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RX/TX 描述符环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528048" y="5166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2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32KB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528048" y="5550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Frame Pool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0991088" y="5166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0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0拷贝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0991088" y="5550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跨核流转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620256" y="6236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埃泰克“火种计划”技术创新大赛 · 项目答辩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0:00-0:30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dramatic_sci_fi_tech_conceptual_scene_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>
              <a:alpha val="82000"/>
            </a:srgbClr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行业痛点：车载与工业现场的“巴别塔困境”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7863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协议碎片化、实时抖动、低功耗矛盾共同限制网关产品化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625328" y="3931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D2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1585448" y="502920"/>
            <a:ext cx="164592" cy="0"/>
          </a:xfrm>
          <a:prstGeom prst="line">
            <a:avLst/>
          </a:prstGeom>
          <a:noFill/>
          <a:ln w="15240">
            <a:solidFill>
              <a:srgbClr val="FFD25A">
                <a:alpha val="9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12280" y="1124712"/>
            <a:ext cx="4434840" cy="1078992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704D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70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协议碎片化
</a:t>
            </a:r>
            <a:pPr indent="0" marL="0">
              <a:buNone/>
            </a:pPr>
            <a:r>
              <a:rPr lang="en-US" sz="91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CAN / RS485 / Bluetooth / 4G / Ethernet 并存，传统方案堆叠转换器，拓扑混乱、维护成本高。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12280" y="2487168"/>
            <a:ext cx="4434840" cy="1078992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实时性不可控
</a:t>
            </a:r>
            <a:pPr indent="0" marL="0">
              <a:buNone/>
            </a:pPr>
            <a:r>
              <a:rPr lang="en-US" sz="91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单核网关同时处理大吞吐 I/O 与控制帧，容易出现调度延迟和抖动，核心控制链路风险上升。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12280" y="3849624"/>
            <a:ext cx="4434840" cy="1078992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低功耗难落地
</a:t>
            </a:r>
            <a:pPr indent="0" marL="0">
              <a:buNone/>
            </a:pPr>
            <a:r>
              <a:rPr lang="en-US" sz="91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长期物理监听与超低功耗待机相互冲突，传统设计难以兼顾快速唤醒与低能耗。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12280" y="5440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我们的破局点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92440" y="54406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anyMSG + AMP 双核协同 + 零拷贝 IPC，让复杂接入与实时路由彻底解耦。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 · 0:30-1:15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/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产品定义：四维跃迁与 v1→v2 架构升级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不是概念堆砌，而是从历史原型到工程主线的自我革新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625328" y="3931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D2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585448" y="502920"/>
            <a:ext cx="164592" cy="0"/>
          </a:xfrm>
          <a:prstGeom prst="line">
            <a:avLst/>
          </a:prstGeom>
          <a:noFill/>
          <a:ln w="15240">
            <a:solidFill>
              <a:srgbClr val="FFD25A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2267712" cy="105156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统一协议
</a:t>
            </a:r>
            <a:pPr indent="0" marL="0">
              <a:buNone/>
            </a:pPr>
            <a:r>
              <a:rPr lang="en-US" sz="84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anyMSG 统一帧</a:t>
            </a:r>
            <a:endParaRPr lang="en-US" sz="1300" dirty="0"/>
          </a:p>
          <a:p>
            <a:pPr indent="0" marL="0">
              <a:buNone/>
            </a:pPr>
            <a:r>
              <a:rPr lang="en-US" sz="84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CID 分段寻址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234440"/>
            <a:ext cx="2267712" cy="105156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66FF8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双核协同
</a:t>
            </a:r>
            <a:pPr indent="0" marL="0">
              <a:buNone/>
            </a:pPr>
            <a:r>
              <a:rPr lang="en-US" sz="84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Linux 吞吐接入</a:t>
            </a:r>
            <a:endParaRPr lang="en-US" sz="1300" dirty="0"/>
          </a:p>
          <a:p>
            <a:pPr indent="0" marL="0">
              <a:buNone/>
            </a:pPr>
            <a:r>
              <a:rPr lang="en-US" sz="84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FreeRTOS 实时路由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679192"/>
            <a:ext cx="2267712" cy="105156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零拷贝 IPC
</a:t>
            </a:r>
            <a:pPr indent="0" marL="0">
              <a:buNone/>
            </a:pPr>
            <a:r>
              <a:rPr lang="en-US" sz="84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Frame Pool</a:t>
            </a:r>
            <a:endParaRPr lang="en-US" sz="1300" dirty="0"/>
          </a:p>
          <a:p>
            <a:pPr indent="0" marL="0">
              <a:buNone/>
            </a:pPr>
            <a:r>
              <a:rPr lang="en-US" sz="84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Descriptor 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679192"/>
            <a:ext cx="2267712" cy="105156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704D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70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可观测与低功耗
</a:t>
            </a:r>
            <a:pPr indent="0" marL="0">
              <a:buNone/>
            </a:pPr>
            <a:r>
              <a:rPr lang="en-US" sz="84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旁路 Web 监控</a:t>
            </a:r>
            <a:endParaRPr lang="en-US" sz="1300" dirty="0"/>
          </a:p>
          <a:p>
            <a:pPr indent="0" marL="0">
              <a:buNone/>
            </a:pPr>
            <a:r>
              <a:rPr lang="en-US" sz="84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独立功耗控制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0644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 历史原型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v2 主线架构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1664208"/>
            <a:ext cx="2331720" cy="65836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704D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96B 固定 unified_frame_t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5532120" y="2487168"/>
            <a:ext cx="2331720" cy="65836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704D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CAN 中心原型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多协议载荷受限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5532120" y="3310128"/>
            <a:ext cx="2331720" cy="65836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704D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小核绑定物理 CAN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耦合设备驱动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046720" y="2788920"/>
            <a:ext cx="868680" cy="0"/>
          </a:xfrm>
          <a:prstGeom prst="line">
            <a:avLst/>
          </a:prstGeom>
          <a:noFill/>
          <a:ln w="16510">
            <a:solidFill>
              <a:srgbClr val="FFD25A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098280" y="1664208"/>
            <a:ext cx="2423160" cy="65836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66FF8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变长 anyMSG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40B 帧头 + Payload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9098280" y="2487168"/>
            <a:ext cx="2423160" cy="65836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66FF8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64×512B Frame Pool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路 Descriptor Ring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098280" y="3310128"/>
            <a:ext cx="2423160" cy="65836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66FF8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小核只做内存路由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Linux 统一物理收发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14400" y="4892040"/>
            <a:ext cx="10424160" cy="676656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升级结论
</a:t>
            </a:r>
            <a:pPr indent="0" marL="0">
              <a:buNone/>
            </a:pPr>
            <a:r>
              <a:rPr lang="en-US" sz="102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PUT v2 把“协议接入、数据搬运、实时路由、状态观测”拆成清晰边界，新增物理接口时不修改小核核心逻辑。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P3 · 1:15-2:00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ramatic_futuristic_abstract_scene_a_dark_high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>
              <a:alpha val="82000"/>
            </a:srgbClr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400" b="0">
                <a:solidFill>
                  <a:srgbClr val="F8FAFC"/>
                </a:solidFill>
                <a:latin typeface="Microsoft YaHei UI"/>
              </a:rPr>
              <a:t>系统全景架构：协议边界与 AMP 主链路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7863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00" b="0">
                <a:solidFill>
                  <a:srgbClr val="B8C2D0"/>
                </a:solidFill>
                <a:latin typeface="Microsoft YaHei UI"/>
              </a:rPr>
              <a:t>外部车载协议在 Linux 适配器层终止；anyMSG 只作为网关内部骨架流转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625328" y="3931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D2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1585448" y="502920"/>
            <a:ext cx="164592" cy="0"/>
          </a:xfrm>
          <a:prstGeom prst="line">
            <a:avLst/>
          </a:prstGeom>
          <a:noFill/>
          <a:ln w="15240">
            <a:solidFill>
              <a:srgbClr val="FFD25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017520" y="1920240"/>
            <a:ext cx="1143000" cy="0"/>
          </a:xfrm>
          <a:prstGeom prst="line">
            <a:avLst/>
          </a:prstGeom>
          <a:noFill/>
          <a:ln w="16510">
            <a:solidFill>
              <a:srgbClr val="00F5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046720" y="1920240"/>
            <a:ext cx="1097280" cy="0"/>
          </a:xfrm>
          <a:prstGeom prst="line">
            <a:avLst/>
          </a:prstGeom>
          <a:noFill/>
          <a:ln w="16510">
            <a:solidFill>
              <a:srgbClr val="66FF8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8046720" y="4480560"/>
            <a:ext cx="1097280" cy="0"/>
          </a:xfrm>
          <a:prstGeom prst="line">
            <a:avLst/>
          </a:prstGeom>
          <a:noFill/>
          <a:ln w="16510">
            <a:solidFill>
              <a:srgbClr val="FFD25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160520" y="4480560"/>
            <a:ext cx="-1143000" cy="0"/>
          </a:xfrm>
          <a:prstGeom prst="line">
            <a:avLst/>
          </a:prstGeom>
          <a:noFill/>
          <a:ln w="16510">
            <a:solidFill>
              <a:srgbClr val="FF704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48640" y="1234440"/>
            <a:ext cx="2468880" cy="384048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400" b="1">
                <a:solidFill>
                  <a:srgbClr val="00F5FF"/>
                </a:solidFill>
                <a:latin typeface="Microsoft YaHei UI"/>
              </a:rPr>
              <a:t>Linux 大核 接入/出口（协议收费站）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• SocketCAN / 诊断栈终止 ISO‑TP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• 解包 UDS / J1939 / Modbus 载荷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• 适配 CAN / RS485 / Bluetooth / 4G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• 分片重组、MTU 适配、封包发送</a:t>
            </a:r>
          </a:p>
        </p:txBody>
      </p:sp>
      <p:sp>
        <p:nvSpPr>
          <p:cNvPr id="15" name="Text 12"/>
          <p:cNvSpPr/>
          <p:nvPr/>
        </p:nvSpPr>
        <p:spPr>
          <a:xfrm>
            <a:off x="4160520" y="1078992"/>
            <a:ext cx="3886200" cy="416052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400" b="1">
                <a:solidFill>
                  <a:srgbClr val="00F5FF"/>
                </a:solidFill>
                <a:latin typeface="Microsoft YaHei UI"/>
              </a:rPr>
              <a:t>共享内存 IPC v2（内部高速公路）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Frame Pool：64 × 512B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RX/TX Descriptor Ring：6+6 路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Pending Bitmap：丢门铃兜底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Reclaim Ring：资源生命周期回收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承载对象：完整 anyMSG，不承载外部协议半包</a:t>
            </a:r>
          </a:p>
        </p:txBody>
      </p:sp>
      <p:sp>
        <p:nvSpPr>
          <p:cNvPr id="16" name="Text 13"/>
          <p:cNvSpPr/>
          <p:nvPr/>
        </p:nvSpPr>
        <p:spPr>
          <a:xfrm>
            <a:off x="9144000" y="1234440"/>
            <a:ext cx="2468880" cy="384048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66FF8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400" b="1">
                <a:solidFill>
                  <a:srgbClr val="00F5FF"/>
                </a:solidFill>
                <a:latin typeface="Microsoft YaHei UI"/>
              </a:rPr>
              <a:t>FreeRTOS 小核 路由（不碰外部协议）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• 读取完整 Descriptor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• TTL / CRC / epoch 校验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• CID 查表路由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• 优先级队列与调度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8FAFC"/>
                </a:solidFill>
                <a:latin typeface="Microsoft YaHei UI"/>
              </a:rPr>
              <a:t>• 不做 ISO‑TP 拼包、不解析 UDS 业务</a:t>
            </a:r>
          </a:p>
        </p:txBody>
      </p:sp>
      <p:sp>
        <p:nvSpPr>
          <p:cNvPr id="17" name="Shape 14"/>
          <p:cNvSpPr/>
          <p:nvPr/>
        </p:nvSpPr>
        <p:spPr>
          <a:xfrm>
            <a:off x="3538728" y="5522976"/>
            <a:ext cx="4919472" cy="0"/>
          </a:xfrm>
          <a:prstGeom prst="line">
            <a:avLst/>
          </a:prstGeom>
          <a:noFill/>
          <a:ln w="17780">
            <a:solidFill>
              <a:srgbClr val="00F5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822192" y="56052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300" b="0">
                <a:solidFill>
                  <a:srgbClr val="FFC947"/>
                </a:solidFill>
                <a:latin typeface="Microsoft YaHei UI"/>
              </a:rPr>
              <a:t>协议转换边界：anyMSG 是内部高速公路；外部汽车总线协议在 Linux 适配器“收费站”完成换乘。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P4 · 2:00-2:50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/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300" b="0">
                <a:solidFill>
                  <a:srgbClr val="F8FAFC"/>
                </a:solidFill>
                <a:latin typeface="Microsoft YaHei UI"/>
              </a:rPr>
              <a:t>anyMSG 与 C 适配器：内部骨架 ≠ 外部分片协议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00" b="0">
                <a:solidFill>
                  <a:srgbClr val="B8C2D0"/>
                </a:solidFill>
                <a:latin typeface="Microsoft YaHei UI"/>
              </a:rPr>
              <a:t>Type 表示业务语义，SOF/DATA 只服务非 CAN 流式链路；绝不在 CAN 总线上叠两层分片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625328" y="3931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D2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585448" y="502920"/>
            <a:ext cx="164592" cy="0"/>
          </a:xfrm>
          <a:prstGeom prst="line">
            <a:avLst/>
          </a:prstGeom>
          <a:noFill/>
          <a:ln w="15240">
            <a:solidFill>
              <a:srgbClr val="FFD25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anyMSG 统一帧结构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502920" cy="47548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00F5FF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magic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07008" y="1664208"/>
            <a:ext cx="384048" cy="47548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00F5FF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36776" y="1664208"/>
            <a:ext cx="685800" cy="47548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66FF8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src_cid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368296" y="1664208"/>
            <a:ext cx="777240" cy="47548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D25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dst_cid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191256" y="1664208"/>
            <a:ext cx="411480" cy="47548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704D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48456" y="1664208"/>
            <a:ext cx="502920" cy="47548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00F5FF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time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97096" y="1664208"/>
            <a:ext cx="411480" cy="47548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D25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crc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54296" y="1664208"/>
            <a:ext cx="804672" cy="47548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66FF8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payload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58368" y="2395728"/>
            <a:ext cx="4572000" cy="141732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300" b="1">
                <a:solidFill>
                  <a:srgbClr val="00F5FF"/>
                </a:solidFill>
                <a:latin typeface="Microsoft YaHei UI"/>
              </a:rPr>
              <a:t>CID 分段寻址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8FAFC"/>
                </a:solidFill>
                <a:latin typeface="Microsoft YaHei UI"/>
              </a:rPr>
              <a:t>目的地址首字节直接映射物理出口：0x20~0x3F → CAN，0x80~0x9F → Bluetooth。小核只读 destination_cid 查表路由，不解析 payload。</a:t>
            </a:r>
          </a:p>
        </p:txBody>
      </p:sp>
      <p:sp>
        <p:nvSpPr>
          <p:cNvPr id="19" name="Text 17"/>
          <p:cNvSpPr/>
          <p:nvPr/>
        </p:nvSpPr>
        <p:spPr>
          <a:xfrm>
            <a:off x="658368" y="4087368"/>
            <a:ext cx="4572000" cy="1261872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66FF8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300" b="1">
                <a:solidFill>
                  <a:srgbClr val="00F5FF"/>
                </a:solidFill>
                <a:latin typeface="Microsoft YaHei UI"/>
              </a:rPr>
              <a:t>Type 只描述内部载荷语义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8FAFC"/>
                </a:solidFill>
                <a:latin typeface="Microsoft YaHei UI"/>
              </a:rPr>
              <a:t>0x4B / 0x4C / 0x4D 是内部语义标签：外部 ISO‑TP、UDS、J1939 在 Linux 侧已终止并重组；小核只路由完整 anyMSG。</a:t>
            </a:r>
          </a:p>
        </p:txBody>
      </p:sp>
      <p:sp>
        <p:nvSpPr>
          <p:cNvPr id="20" name="Shape 18"/>
          <p:cNvSpPr/>
          <p:nvPr/>
        </p:nvSpPr>
        <p:spPr>
          <a:xfrm>
            <a:off x="5897880" y="1170432"/>
            <a:ext cx="5440680" cy="4389120"/>
          </a:xfrm>
          <a:prstGeom prst="roundRect">
            <a:avLst>
              <a:gd name="adj" fmla="val 1042"/>
            </a:avLst>
          </a:prstGeom>
          <a:solidFill>
            <a:srgbClr val="02080D"/>
          </a:solidFill>
          <a:ln w="12700">
            <a:solidFill>
              <a:srgbClr val="00F5FF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897880" y="1234440"/>
            <a:ext cx="4343400" cy="187451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sz="1200" b="0">
                <a:solidFill>
                  <a:srgbClr val="00F5FF"/>
                </a:solidFill>
                <a:latin typeface="JetBrains Mono"/>
              </a:rPr>
              <a:t>physical_interface_adapter_t</a:t>
            </a:r>
            <a:endParaRPr lang="en-US" sz="920" dirty="0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00F5FF"/>
                </a:solidFill>
                <a:latin typeface="JetBrains Mono"/>
              </a:rPr>
              <a:t>get_mtu() / decode_rx() / reassemble()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00F5FF"/>
                </a:solidFill>
                <a:latin typeface="JetBrains Mono"/>
              </a:rPr>
              <a:t>encapsulate() / fragment_tx() / send()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00F5FF"/>
                </a:solidFill>
                <a:latin typeface="JetBrains Mono"/>
              </a:rPr>
              <a:t>外部协议差异全部在大核适配器层消化</a:t>
            </a:r>
          </a:p>
        </p:txBody>
      </p:sp>
      <p:sp>
        <p:nvSpPr>
          <p:cNvPr id="22" name="Text 20"/>
          <p:cNvSpPr/>
          <p:nvPr/>
        </p:nvSpPr>
        <p:spPr>
          <a:xfrm>
            <a:off x="6263640" y="4892040"/>
            <a:ext cx="1965960" cy="256032"/>
          </a:xfrm>
          <a:prstGeom prst="rect">
            <a:avLst/>
          </a:prstGeom>
          <a:solidFill>
            <a:srgbClr val="00F5FF">
              <a:alpha val="12000"/>
            </a:srgbClr>
          </a:solidFill>
          <a:ln w="11430">
            <a:solidFill>
              <a:srgbClr val="00F5FF">
                <a:alpha val="88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新增协议 = 新增适配器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458200" y="4892040"/>
            <a:ext cx="2194560" cy="256032"/>
          </a:xfrm>
          <a:prstGeom prst="rect">
            <a:avLst/>
          </a:prstGeom>
          <a:solidFill>
            <a:srgbClr val="66FF8A">
              <a:alpha val="12000"/>
            </a:srgbClr>
          </a:solidFill>
          <a:ln w="11430">
            <a:solidFill>
              <a:srgbClr val="66FF8A">
                <a:alpha val="88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小核路由核心零改动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P5 · 2:50-3:30</a:t>
            </a:r>
            <a:endParaRPr lang="en-US" sz="650" dirty="0"/>
          </a:p>
        </p:txBody>
      </p:sp>
      <p:sp>
        <p:nvSpPr>
          <p:cNvPr id="26" name="Rounded Rectangle 25"/>
          <p:cNvSpPr/>
          <p:nvPr/>
        </p:nvSpPr>
        <p:spPr>
          <a:xfrm>
            <a:off x="5806440" y="3310128"/>
            <a:ext cx="4480560" cy="1234440"/>
          </a:xfrm>
          <a:prstGeom prst="roundRect">
            <a:avLst/>
          </a:prstGeom>
          <a:solidFill>
            <a:srgbClr val="111D2E"/>
          </a:solidFill>
          <a:ln w="15240">
            <a:solidFill>
              <a:srgbClr val="FFC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>
            <a:norm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C947"/>
                </a:solidFill>
                <a:latin typeface="Microsoft YaHei UI"/>
              </a:rPr>
              <a:t>诊断流转示例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F8FAFC"/>
                </a:solidFill>
                <a:latin typeface="Microsoft YaHei UI"/>
              </a:rPr>
              <a:t>外部 ISO‑TP 多帧 → SocketCAN/诊断栈重组 → 提取纯净 UDS Payload → 打 anyMSG(type=0x4C) → Frame Pool → 小核 CID 路由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/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200" b="0">
                <a:solidFill>
                  <a:srgbClr val="F8FAFC"/>
                </a:solidFill>
                <a:latin typeface="Microsoft YaHei UI"/>
              </a:rPr>
              <a:t>共享内存 IPC v2：零拷贝生命周期与非一致 Cache 对策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00" b="0">
                <a:solidFill>
                  <a:srgbClr val="B8C2D0"/>
                </a:solidFill>
                <a:latin typeface="Microsoft YaHei UI"/>
              </a:rPr>
              <a:t>64B 对齐只是第一步；正确性来自软件 Cache 维护、原子位操作与回收闭环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625328" y="3931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D2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585448" y="502920"/>
            <a:ext cx="164592" cy="0"/>
          </a:xfrm>
          <a:prstGeom prst="line">
            <a:avLst/>
          </a:prstGeom>
          <a:noFill/>
          <a:ln w="15240">
            <a:solidFill>
              <a:srgbClr val="FFD25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325880"/>
            <a:ext cx="3931920" cy="411480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00F5FF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region_header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49808" y="1847088"/>
            <a:ext cx="3931920" cy="1261872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D25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frame_pool[64][512]  · 32KB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49808" y="3218688"/>
            <a:ext cx="3931920" cy="74980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66FF8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rx_rings[6]  +  tx_rings[6]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49808" y="4078224"/>
            <a:ext cx="3931920" cy="566928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00F5FF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rx_pending_bitmap / tx_pending_bitmap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749808" y="4754880"/>
            <a:ext cx="3931920" cy="502920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704D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reclaim_ring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777240" y="1051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共享内存区域布局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143000"/>
            <a:ext cx="2880360" cy="388620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350" b="1">
                <a:solidFill>
                  <a:srgbClr val="00F5FF"/>
                </a:solidFill>
                <a:latin typeface="Microsoft YaHei UI"/>
              </a:rPr>
              <a:t>64B Descriptor 核心字段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F8FAFC"/>
                </a:solidFill>
                <a:latin typeface="Microsoft YaHei UI"/>
              </a:rPr>
              <a:t>frame_id / frame_offset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F8FAFC"/>
                </a:solidFill>
                <a:latin typeface="Microsoft YaHei UI"/>
              </a:rPr>
              <a:t>frame_length / priority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F8FAFC"/>
                </a:solidFill>
                <a:latin typeface="Microsoft YaHei UI"/>
              </a:rPr>
              <a:t>ttl / epoch / flags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F8FAFC"/>
                </a:solidFill>
                <a:latin typeface="Microsoft YaHei UI"/>
              </a:rPr>
              <a:t>crc16 / source_ring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F8FAFC"/>
                </a:solidFill>
                <a:latin typeface="Microsoft YaHei UI"/>
              </a:rPr>
              <a:t>target_ring / drop_reason</a:t>
            </a:r>
          </a:p>
        </p:txBody>
      </p:sp>
      <p:sp>
        <p:nvSpPr>
          <p:cNvPr id="16" name="Text 14"/>
          <p:cNvSpPr/>
          <p:nvPr/>
        </p:nvSpPr>
        <p:spPr>
          <a:xfrm>
            <a:off x="8641080" y="8778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数据生命周期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41080" y="1143000"/>
            <a:ext cx="2487168" cy="512064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00F5FF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Linux 接入层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 Frame Pool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884664" y="1664208"/>
            <a:ext cx="0" cy="182880"/>
          </a:xfrm>
          <a:prstGeom prst="line">
            <a:avLst/>
          </a:prstGeom>
          <a:noFill/>
          <a:ln w="16510">
            <a:solidFill>
              <a:srgbClr val="00F5F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641080" y="1892808"/>
            <a:ext cx="2487168" cy="512064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D25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放入 RX Ring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置 Pending Bit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884664" y="2414016"/>
            <a:ext cx="0" cy="182880"/>
          </a:xfrm>
          <a:prstGeom prst="line">
            <a:avLst/>
          </a:prstGeom>
          <a:noFill/>
          <a:ln w="16510">
            <a:solidFill>
              <a:srgbClr val="FFD25A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641080" y="2642616"/>
            <a:ext cx="2487168" cy="512064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66FF8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Mailbox 门铃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唤醒小核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884664" y="3163824"/>
            <a:ext cx="0" cy="182880"/>
          </a:xfrm>
          <a:prstGeom prst="line">
            <a:avLst/>
          </a:prstGeom>
          <a:noFill/>
          <a:ln w="16510">
            <a:solidFill>
              <a:srgbClr val="66FF8A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641080" y="3392424"/>
            <a:ext cx="2487168" cy="512064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704D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小核查表调度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 TX Ring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884664" y="3913632"/>
            <a:ext cx="0" cy="182880"/>
          </a:xfrm>
          <a:prstGeom prst="line">
            <a:avLst/>
          </a:prstGeom>
          <a:noFill/>
          <a:ln w="16510">
            <a:solidFill>
              <a:srgbClr val="FF704D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641080" y="4142232"/>
            <a:ext cx="2487168" cy="512064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00F5FF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Linux 出口发送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Reclaim 回收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P6 · 3:30-4:20</a:t>
            </a:r>
            <a:endParaRPr lang="en-US" sz="650" dirty="0"/>
          </a:p>
        </p:txBody>
      </p:sp>
      <p:sp>
        <p:nvSpPr>
          <p:cNvPr id="38" name="Rounded Rectangle 37"/>
          <p:cNvSpPr/>
          <p:nvPr/>
        </p:nvSpPr>
        <p:spPr>
          <a:xfrm>
            <a:off x="685800" y="5074920"/>
            <a:ext cx="9738360" cy="658368"/>
          </a:xfrm>
          <a:prstGeom prst="roundRect">
            <a:avLst/>
          </a:prstGeom>
          <a:solidFill>
            <a:srgbClr val="111D2E"/>
          </a:solidFill>
          <a:ln w="15240">
            <a:solidFill>
              <a:srgbClr val="FF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>
            <a:normAutofit/>
          </a:bodyPr>
          <a:lstStyle/>
          <a:p>
            <a:pPr algn="ctr">
              <a:spcAft>
                <a:spcPts val="100"/>
              </a:spcAft>
            </a:pPr>
            <a:r>
              <a:rPr sz="1120" b="1">
                <a:solidFill>
                  <a:srgbClr val="FF784E"/>
                </a:solidFill>
                <a:latin typeface="Microsoft YaHei UI"/>
              </a:rPr>
              <a:t>Non-cache-coherent 跨核正确性</a:t>
            </a:r>
          </a:p>
          <a:p>
            <a:pPr>
              <a:spcAft>
                <a:spcPts val="100"/>
              </a:spcAft>
            </a:pPr>
            <a:r>
              <a:rPr sz="1019" b="0">
                <a:solidFill>
                  <a:srgbClr val="F8FAFC"/>
                </a:solidFill>
                <a:latin typeface="Microsoft YaHei UI"/>
              </a:rPr>
              <a:t>Descriptor / bitmap 64B 对齐隔离伪共享；Linux 写后 Cache Flush，小核读前 Cache Invalidate；pending_bitmap 使用 Atomic Bitwise Operations，清零前二次 read_idx 校验，避免丢帧与并发竞态。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/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300" b="0">
                <a:solidFill>
                  <a:srgbClr val="F8FAFC"/>
                </a:solidFill>
                <a:latin typeface="Microsoft YaHei UI"/>
              </a:rPr>
              <a:t>FreeRTOS 小核调度：实时路由、防饥饿与 Fail-safe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00" b="0">
                <a:solidFill>
                  <a:srgbClr val="B8C2D0"/>
                </a:solidFill>
                <a:latin typeface="Microsoft YaHei UI"/>
              </a:rPr>
              <a:t>控制帧优先 + Epoch 校验 + Bus‑Off 隔离，防止旧指令重放与局部故障扩散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625328" y="3931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D2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585448" y="502920"/>
            <a:ext cx="164592" cy="0"/>
          </a:xfrm>
          <a:prstGeom prst="line">
            <a:avLst/>
          </a:prstGeom>
          <a:noFill/>
          <a:ln w="15240">
            <a:solidFill>
              <a:srgbClr val="FFD25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377440" y="1965960"/>
            <a:ext cx="1783080" cy="0"/>
          </a:xfrm>
          <a:prstGeom prst="line">
            <a:avLst/>
          </a:prstGeom>
          <a:noFill/>
          <a:ln w="16510">
            <a:solidFill>
              <a:srgbClr val="00F5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160520" y="1965960"/>
            <a:ext cx="1490472" cy="0"/>
          </a:xfrm>
          <a:prstGeom prst="line">
            <a:avLst/>
          </a:prstGeom>
          <a:noFill/>
          <a:ln w="16510">
            <a:solidFill>
              <a:srgbClr val="00F5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001000" y="1965960"/>
            <a:ext cx="1371600" cy="0"/>
          </a:xfrm>
          <a:prstGeom prst="line">
            <a:avLst/>
          </a:prstGeom>
          <a:noFill/>
          <a:ln w="16510">
            <a:solidFill>
              <a:srgbClr val="66FF8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" y="1234440"/>
            <a:ext cx="1737360" cy="148132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输入扫描
</a:t>
            </a:r>
            <a:pPr indent="0" marL="0">
              <a:buNone/>
            </a:pPr>
            <a:r>
              <a:rPr lang="en-US" sz="8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Pending Bitmap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RX Ring drain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Descriptor 校验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9664" y="1234440"/>
            <a:ext cx="1572768" cy="148132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300" b="1">
                <a:solidFill>
                  <a:srgbClr val="00F5FF"/>
                </a:solidFill>
                <a:latin typeface="Microsoft YaHei UI"/>
              </a:rPr>
              <a:t>路由决策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8FAFC"/>
                </a:solidFill>
                <a:latin typeface="Microsoft YaHei UI"/>
              </a:rPr>
              <a:t>CID 查表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8FAFC"/>
                </a:solidFill>
                <a:latin typeface="Microsoft YaHei UI"/>
              </a:rPr>
              <a:t>TTL / epoch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8FAFC"/>
                </a:solidFill>
                <a:latin typeface="Microsoft YaHei UI"/>
              </a:rPr>
              <a:t>type=0x00 消费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8FAFC"/>
                </a:solidFill>
                <a:latin typeface="Microsoft YaHei UI"/>
              </a:rPr>
              <a:t>旧纪元帧丢弃</a:t>
            </a:r>
          </a:p>
        </p:txBody>
      </p:sp>
      <p:sp>
        <p:nvSpPr>
          <p:cNvPr id="14" name="Text 12"/>
          <p:cNvSpPr/>
          <p:nvPr/>
        </p:nvSpPr>
        <p:spPr>
          <a:xfrm>
            <a:off x="9372600" y="1234440"/>
            <a:ext cx="2057400" cy="148132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66FF8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出口分发
</a:t>
            </a:r>
            <a:pPr indent="0" marL="0">
              <a:buNone/>
            </a:pPr>
            <a:r>
              <a:rPr lang="en-US" sz="8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写目标 TX Ring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置 tx_pending_bitmap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Doorbell 通知大核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33872" y="1060704"/>
            <a:ext cx="2148840" cy="438912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704D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 紧急控制   配额 16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5833872" y="1719072"/>
            <a:ext cx="2148840" cy="438912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FFD25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高优先业务   配额 12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5833872" y="2377440"/>
            <a:ext cx="2148840" cy="438912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66FF8A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 普通业务   配额 8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833872" y="3035808"/>
            <a:ext cx="2148840" cy="438912"/>
          </a:xfrm>
          <a:prstGeom prst="rect">
            <a:avLst/>
          </a:prstGeom>
          <a:solidFill>
            <a:srgbClr val="111D2E">
              <a:alpha val="92000"/>
            </a:srgbClr>
          </a:solidFill>
          <a:ln w="12700">
            <a:solidFill>
              <a:srgbClr val="00F5FF">
                <a:alpha val="8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P3 日志状态   配额 4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3108960" cy="109728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66FF8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端心跳消费
</a:t>
            </a:r>
            <a:pPr indent="0" marL="0">
              <a:buNone/>
            </a:pPr>
            <a:r>
              <a:rPr lang="en-US" sz="8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小核主动消费 type=0x00 心跳帧，维护端设备在线状态，不生成 type=0x01 响应，避免业务链路被心跳干扰。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4251960"/>
            <a:ext cx="3108960" cy="109728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防饥饿配额
</a:t>
            </a:r>
            <a:pPr indent="0" marL="0">
              <a:buNone/>
            </a:pPr>
            <a:r>
              <a:rPr lang="en-US" sz="8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优先级越高配额越大；低优先级仍保留最低通道，防止高频控制帧把状态日志完全饿死。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4251960"/>
            <a:ext cx="3108960" cy="109728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704D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050" b="1">
                <a:solidFill>
                  <a:srgbClr val="00F5FF"/>
                </a:solidFill>
                <a:latin typeface="Microsoft YaHei UI"/>
              </a:rPr>
              <a:t>Fail-safe 恢复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F8FAFC"/>
                </a:solidFill>
                <a:latin typeface="Microsoft YaHei UI"/>
              </a:rPr>
              <a:t>• Epoch 校验：desc.epoch ≠ current_epoch 立即丢弃并走 Reclaim，防止重启后旧控制指令重放。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F8FAFC"/>
                </a:solidFill>
                <a:latin typeface="Microsoft YaHei UI"/>
              </a:rPr>
              <a:t>• CAN Bus‑Off：大核 SocketCAN 订阅错误帧，restart-ms 100 自恢复；接口 Offline 时快速释放 Frame，不阻塞其他通道。</a:t>
            </a:r>
          </a:p>
        </p:txBody>
      </p:sp>
      <p:sp>
        <p:nvSpPr>
          <p:cNvPr id="22" name="Text 20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P7 · 4:20-5:10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/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300" b="0">
                <a:solidFill>
                  <a:srgbClr val="F8FAFC"/>
                </a:solidFill>
                <a:latin typeface="Microsoft YaHei UI"/>
              </a:rPr>
              <a:t>旁路监控、异常统计与 Reclaim 回收闭环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00" b="0">
                <a:solidFill>
                  <a:srgbClr val="B8C2D0"/>
                </a:solidFill>
                <a:latin typeface="Microsoft YaHei UI"/>
              </a:rPr>
              <a:t>每一次消费/丢弃都回写回收描述符：宁可限流，绝不泄漏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625328" y="3931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D2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585448" y="502920"/>
            <a:ext cx="164592" cy="0"/>
          </a:xfrm>
          <a:prstGeom prst="line">
            <a:avLst/>
          </a:prstGeom>
          <a:noFill/>
          <a:ln w="15240">
            <a:solidFill>
              <a:srgbClr val="FFD25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1078992"/>
            <a:ext cx="4983480" cy="342900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旁路监控边界
</a:t>
            </a:r>
            <a:pPr indent="0" marL="0">
              <a:buNone/>
            </a:pPr>
            <a:r>
              <a:rPr lang="en-US" sz="103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 后端：Rust + Axum / Tokio</a:t>
            </a:r>
            <a:endParaRPr lang="en-US" sz="1300" dirty="0"/>
          </a:p>
          <a:p>
            <a:pPr indent="0" marL="0">
              <a:buNone/>
            </a:pPr>
            <a:r>
              <a:rPr lang="en-US" sz="103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 前端：Vue3 + Vite</a:t>
            </a:r>
            <a:endParaRPr lang="en-US" sz="1300" dirty="0"/>
          </a:p>
          <a:p>
            <a:pPr indent="0" marL="0">
              <a:buNone/>
            </a:pPr>
            <a:r>
              <a:rPr lang="en-US" sz="103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数据源：只读 /run/put/status/ 与日志</a:t>
            </a:r>
            <a:endParaRPr lang="en-US" sz="1300" dirty="0"/>
          </a:p>
          <a:p>
            <a:pPr indent="0" marL="0">
              <a:buNone/>
            </a:pPr>
            <a:r>
              <a:rPr lang="en-US" sz="103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安全边界：不读写共享内存、不影响路由调度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4736592"/>
            <a:ext cx="4983480" cy="621792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66FF8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核心只读 API
</a:t>
            </a:r>
            <a:pPr indent="0" marL="0">
              <a:buNone/>
            </a:pPr>
            <a:r>
              <a:rPr lang="en-US" sz="80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/api/modules · /api/ipc-status · /api/route-status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0789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五大类异常指标统计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444752"/>
            <a:ext cx="4709160" cy="59436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接入层
</a:t>
            </a:r>
            <a:pPr indent="0" marL="0">
              <a:buNone/>
            </a:pPr>
            <a:r>
              <a:rPr lang="en-US" sz="76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解包错误 / 重组超时 / CRC 错误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4709160" cy="59436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共享内存
</a:t>
            </a:r>
            <a:pPr indent="0" marL="0">
              <a:buNone/>
            </a:pPr>
            <a:r>
              <a:rPr lang="en-US" sz="76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Frame Pool 满 / RX/TX Ring 满 / 描述符校验失败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035808"/>
            <a:ext cx="4709160" cy="59436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66FF8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小核路由
</a:t>
            </a:r>
            <a:pPr indent="0" marL="0">
              <a:buNone/>
            </a:pPr>
            <a:r>
              <a:rPr lang="en-US" sz="76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无路由丢弃 / 心跳丢失 / TTL 过期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831336"/>
            <a:ext cx="4709160" cy="59436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704D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150" b="1">
                <a:solidFill>
                  <a:srgbClr val="00F5FF"/>
                </a:solidFill>
                <a:latin typeface="Microsoft YaHei UI"/>
              </a:rPr>
              <a:t>资源回收闭环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F8FAFC"/>
                </a:solidFill>
                <a:latin typeface="Microsoft YaHei UI"/>
              </a:rPr>
              <a:t>小核消费、TTL 过期、无路由或鉴权失败时，必须向 Reclaim Ring 回写 64B 回收描述符：frame_id + drop_reason。Linux 周期性 drain 并释放 Frame Pool。</a:t>
            </a:r>
          </a:p>
        </p:txBody>
      </p:sp>
      <p:sp>
        <p:nvSpPr>
          <p:cNvPr id="16" name="Text 14"/>
          <p:cNvSpPr/>
          <p:nvPr/>
        </p:nvSpPr>
        <p:spPr>
          <a:xfrm>
            <a:off x="6400800" y="4626864"/>
            <a:ext cx="4709160" cy="59436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系统状态
</a:t>
            </a:r>
            <a:pPr indent="0" marL="0">
              <a:buNone/>
            </a:pPr>
            <a:r>
              <a:rPr lang="en-US" sz="76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Linux 心跳 / 小核健康 / 端设备在线表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P8 · 5:10-5:50</a:t>
            </a:r>
            <a:endParaRPr lang="en-US" sz="650" dirty="0"/>
          </a:p>
        </p:txBody>
      </p:sp>
      <p:sp>
        <p:nvSpPr>
          <p:cNvPr id="25" name="Rounded Rectangle 24"/>
          <p:cNvSpPr/>
          <p:nvPr/>
        </p:nvSpPr>
        <p:spPr>
          <a:xfrm>
            <a:off x="6263640" y="5074920"/>
            <a:ext cx="3977639" cy="640080"/>
          </a:xfrm>
          <a:prstGeom prst="roundRect">
            <a:avLst/>
          </a:prstGeom>
          <a:solidFill>
            <a:srgbClr val="111D2E"/>
          </a:solidFill>
          <a:ln w="15240">
            <a:solidFill>
              <a:srgbClr val="FF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>
            <a:normAutofit/>
          </a:bodyPr>
          <a:lstStyle/>
          <a:p>
            <a:pPr algn="ctr">
              <a:spcAft>
                <a:spcPts val="100"/>
              </a:spcAft>
            </a:pPr>
            <a:r>
              <a:rPr sz="1080" b="1">
                <a:solidFill>
                  <a:srgbClr val="FF784E"/>
                </a:solidFill>
                <a:latin typeface="Microsoft YaHei UI"/>
              </a:rPr>
              <a:t>DEGRADED_RECLAIM_FULL</a:t>
            </a:r>
          </a:p>
          <a:p>
            <a:pPr>
              <a:spcAft>
                <a:spcPts val="100"/>
              </a:spcAft>
            </a:pPr>
            <a:r>
              <a:rPr sz="980" b="0">
                <a:solidFill>
                  <a:srgbClr val="F8FAFC"/>
                </a:solidFill>
                <a:latin typeface="Microsoft YaHei UI"/>
              </a:rPr>
              <a:t>Reclaim Ring 满 → 小核暂停消费新 RX → 局部背压熔断 → 大核清出空间后恢复。策略：宁可限流，绝不泄漏。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074920"/>
            <a:ext cx="5166360" cy="640080"/>
          </a:xfrm>
          <a:prstGeom prst="roundRect">
            <a:avLst/>
          </a:prstGeom>
          <a:solidFill>
            <a:srgbClr val="111D2E"/>
          </a:solidFill>
          <a:ln w="15240">
            <a:solidFill>
              <a:srgbClr val="FFC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>
            <a:normAutofit/>
          </a:bodyPr>
          <a:lstStyle/>
          <a:p>
            <a:pPr algn="ctr">
              <a:spcAft>
                <a:spcPts val="100"/>
              </a:spcAft>
            </a:pPr>
            <a:r>
              <a:rPr sz="1080" b="1">
                <a:solidFill>
                  <a:srgbClr val="FFC947"/>
                </a:solidFill>
                <a:latin typeface="Microsoft YaHei UI"/>
              </a:rPr>
              <a:t>可观测闭环</a:t>
            </a:r>
          </a:p>
          <a:p>
            <a:pPr>
              <a:spcAft>
                <a:spcPts val="100"/>
              </a:spcAft>
            </a:pPr>
            <a:r>
              <a:rPr sz="980" b="0">
                <a:solidFill>
                  <a:srgbClr val="F8FAFC"/>
                </a:solidFill>
                <a:latin typeface="Microsoft YaHei UI"/>
              </a:rPr>
              <a:t>30+ 指标覆盖接入层、共享内存、小核路由、资源回收与系统状态；每个 drop reason 都可审计、可定位、可复盘。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/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10896"/>
            <a:ext cx="9326880" cy="402336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buNone/>
            </a:pPr>
            <a:r>
              <a:rPr sz="2100" b="0">
                <a:solidFill>
                  <a:srgbClr val="F8FAFC"/>
                </a:solidFill>
                <a:latin typeface="Microsoft YaHei UI"/>
              </a:rPr>
              <a:t>独立功耗管理架构：外部协处理器与分层电源域控制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509760" cy="237744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buNone/>
            </a:pPr>
            <a:r>
              <a:rPr sz="1100" b="0">
                <a:solidFill>
                  <a:srgbClr val="B8C2D0"/>
                </a:solidFill>
                <a:latin typeface="Microsoft YaHei UI"/>
              </a:rPr>
              <a:t>划清主传输链路与功耗控制边界，攻克车载终端“超低静态电流与即时唤醒”矛盾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625328" y="393192"/>
            <a:ext cx="877824" cy="219456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/>
          <a:lstStyle/>
          <a:p>
            <a:pPr algn="r" indent="0" marL="0">
              <a:buNone/>
            </a:pPr>
            <a:r>
              <a:rPr sz="800" b="0">
                <a:solidFill>
                  <a:srgbClr val="FFD25A"/>
                </a:solidFill>
                <a:latin typeface="JetBrains Mono"/>
              </a:rPr>
              <a:t>P9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585448" y="502920"/>
            <a:ext cx="164592" cy="0"/>
          </a:xfrm>
          <a:prstGeom prst="line">
            <a:avLst/>
          </a:prstGeom>
          <a:noFill/>
          <a:ln w="15240">
            <a:solidFill>
              <a:srgbClr val="FFD25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/>
          <a:lstStyle/>
          <a:p>
            <a:pPr algn="r" indent="0" marL="0">
              <a:buNone/>
            </a:pPr>
            <a:r>
              <a:rPr sz="800" b="0">
                <a:solidFill>
                  <a:srgbClr val="B8C2D0"/>
                </a:solidFill>
                <a:latin typeface="JetBrains Mono"/>
              </a:rPr>
              <a:t>P9 · 5:50-6:35</a:t>
            </a:r>
            <a:endParaRPr lang="en-US" sz="650" dirty="0"/>
          </a:p>
        </p:txBody>
      </p:sp>
      <p:sp>
        <p:nvSpPr>
          <p:cNvPr id="25" name="Rounded Rectangle 24"/>
          <p:cNvSpPr/>
          <p:nvPr/>
        </p:nvSpPr>
        <p:spPr>
          <a:xfrm>
            <a:off x="658368" y="1069848"/>
            <a:ext cx="5074920" cy="1417320"/>
          </a:xfrm>
          <a:prstGeom prst="roundRect">
            <a:avLst/>
          </a:prstGeom>
          <a:solidFill>
            <a:srgbClr val="0E1A2A"/>
          </a:solidFill>
          <a:ln w="1524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0584" bIns="73152"/>
          <a:lstStyle/>
          <a:p>
            <a:pPr algn="ctr"/>
            <a:r>
              <a:rPr sz="1080" b="1">
                <a:solidFill>
                  <a:srgbClr val="00F5FF"/>
                </a:solidFill>
                <a:latin typeface="Noto Sans CJK SC"/>
              </a:rPr>
              <a:t>核心模块定位：C51 独立功耗唤醒总控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F8FAFC"/>
                </a:solidFill>
                <a:latin typeface="Noto Sans CJK SC"/>
              </a:rPr>
              <a:t>C51 作为超低功耗唤醒控制核心，独立维持外部监听。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F8FAFC"/>
                </a:solidFill>
                <a:latin typeface="Noto Sans CJK SC"/>
              </a:rPr>
              <a:t>不参与协议转换、共享内存 IPC 或路由调度，保持主链路逻辑精纯。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069848"/>
            <a:ext cx="5074920" cy="1417320"/>
          </a:xfrm>
          <a:prstGeom prst="roundRect">
            <a:avLst/>
          </a:prstGeom>
          <a:solidFill>
            <a:srgbClr val="111D2E"/>
          </a:solidFill>
          <a:ln w="15240">
            <a:solidFill>
              <a:srgbClr val="FFC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0584" bIns="73152"/>
          <a:lstStyle/>
          <a:p>
            <a:pPr algn="ctr"/>
            <a:r>
              <a:rPr sz="1060" b="1">
                <a:solidFill>
                  <a:srgbClr val="FFC947"/>
                </a:solidFill>
                <a:latin typeface="Noto Sans CJK SC"/>
              </a:rPr>
              <a:t>硬解耦分层电源域控制（Power Domain Gating）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F8FAFC"/>
                </a:solidFill>
                <a:latin typeface="Noto Sans CJK SC"/>
              </a:rPr>
              <a:t>空闲或休眠指令到达后，外部功耗管理电路门控 Milk‑V Duo 高能耗电源域。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F8FAFC"/>
                </a:solidFill>
                <a:latin typeface="Noto Sans CJK SC"/>
              </a:rPr>
              <a:t>静态待机仅保留 C51，整机进入 μA 级极低监测电流。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670048"/>
            <a:ext cx="5943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Noto Sans CJK SC"/>
              </a:rPr>
              <a:t>主传输链路休眠时的硬件唤醒闭环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04872" y="312724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D25A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312724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D25A"/>
                </a:solidFill>
                <a:latin typeface="Arial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312724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D25A"/>
                </a:solidFill>
                <a:latin typeface="Arial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312724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D25A"/>
                </a:solidFill>
                <a:latin typeface="Arial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2971800"/>
            <a:ext cx="1600200" cy="841248"/>
          </a:xfrm>
          <a:prstGeom prst="roundRect">
            <a:avLst/>
          </a:prstGeom>
          <a:solidFill>
            <a:srgbClr val="111D2E"/>
          </a:solidFill>
          <a:ln w="17145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64008"/>
          <a:lstStyle/>
          <a:p>
            <a:pPr algn="l"/>
            <a:r>
              <a:rPr sz="1150" b="1">
                <a:solidFill>
                  <a:srgbClr val="00F5FF"/>
                </a:solidFill>
                <a:latin typeface="Noto Sans CJK SC"/>
              </a:rPr>
              <a:t>唤醒源</a:t>
            </a:r>
          </a:p>
          <a:p>
            <a:pPr algn="l"/>
            <a:r>
              <a:rPr sz="860">
                <a:solidFill>
                  <a:srgbClr val="F8FAFC"/>
                </a:solidFill>
                <a:latin typeface="Noto Sans CJK SC"/>
              </a:rPr>
              <a:t>CAN / RS485
传感器触发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2971800"/>
            <a:ext cx="1600200" cy="841248"/>
          </a:xfrm>
          <a:prstGeom prst="roundRect">
            <a:avLst/>
          </a:prstGeom>
          <a:solidFill>
            <a:srgbClr val="111D2E"/>
          </a:solidFill>
          <a:ln w="17145">
            <a:solidFill>
              <a:srgbClr val="FFC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64008"/>
          <a:lstStyle/>
          <a:p>
            <a:pPr algn="l"/>
            <a:r>
              <a:rPr sz="1150" b="1">
                <a:solidFill>
                  <a:srgbClr val="FFC947"/>
                </a:solidFill>
                <a:latin typeface="Noto Sans CJK SC"/>
              </a:rPr>
              <a:t>C51 μA</a:t>
            </a:r>
          </a:p>
          <a:p>
            <a:pPr algn="l"/>
            <a:r>
              <a:rPr sz="860">
                <a:solidFill>
                  <a:srgbClr val="F8FAFC"/>
                </a:solidFill>
                <a:latin typeface="Noto Sans CJK SC"/>
              </a:rPr>
              <a:t>异步监听
状态机自理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2971800"/>
            <a:ext cx="1600200" cy="841248"/>
          </a:xfrm>
          <a:prstGeom prst="roundRect">
            <a:avLst/>
          </a:prstGeom>
          <a:solidFill>
            <a:srgbClr val="111D2E"/>
          </a:solidFill>
          <a:ln w="17145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64008"/>
          <a:lstStyle/>
          <a:p>
            <a:pPr algn="l"/>
            <a:r>
              <a:rPr sz="1150" b="1">
                <a:solidFill>
                  <a:srgbClr val="00F5FF"/>
                </a:solidFill>
                <a:latin typeface="Noto Sans CJK SC"/>
              </a:rPr>
              <a:t>PMIC</a:t>
            </a:r>
          </a:p>
          <a:p>
            <a:pPr algn="l"/>
            <a:r>
              <a:rPr sz="860">
                <a:solidFill>
                  <a:srgbClr val="F8FAFC"/>
                </a:solidFill>
                <a:latin typeface="Noto Sans CJK SC"/>
              </a:rPr>
              <a:t>电源域门控
硬触发上电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95160" y="2971800"/>
            <a:ext cx="1600200" cy="841248"/>
          </a:xfrm>
          <a:prstGeom prst="roundRect">
            <a:avLst/>
          </a:prstGeom>
          <a:solidFill>
            <a:srgbClr val="111D2E"/>
          </a:solidFill>
          <a:ln w="17145">
            <a:solidFill>
              <a:srgbClr val="FF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64008"/>
          <a:lstStyle/>
          <a:p>
            <a:pPr algn="l"/>
            <a:r>
              <a:rPr sz="1150" b="1">
                <a:solidFill>
                  <a:srgbClr val="FF784E"/>
                </a:solidFill>
                <a:latin typeface="Noto Sans CJK SC"/>
              </a:rPr>
              <a:t>Milk‑V Duo</a:t>
            </a:r>
          </a:p>
          <a:p>
            <a:pPr algn="l"/>
            <a:r>
              <a:rPr sz="860">
                <a:solidFill>
                  <a:srgbClr val="F8FAFC"/>
                </a:solidFill>
                <a:latin typeface="Noto Sans CJK SC"/>
              </a:rPr>
              <a:t>秒级冷启动
系统重载初始化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2971800"/>
            <a:ext cx="1600200" cy="841248"/>
          </a:xfrm>
          <a:prstGeom prst="roundRect">
            <a:avLst/>
          </a:prstGeom>
          <a:solidFill>
            <a:srgbClr val="111D2E"/>
          </a:solidFill>
          <a:ln w="17145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64008"/>
          <a:lstStyle/>
          <a:p>
            <a:pPr algn="l"/>
            <a:r>
              <a:rPr sz="1150" b="1">
                <a:solidFill>
                  <a:srgbClr val="00F5FF"/>
                </a:solidFill>
                <a:latin typeface="Noto Sans CJK SC"/>
              </a:rPr>
              <a:t>Linux 接入层</a:t>
            </a:r>
          </a:p>
          <a:p>
            <a:pPr algn="l"/>
            <a:r>
              <a:rPr sz="860">
                <a:solidFill>
                  <a:srgbClr val="F8FAFC"/>
                </a:solidFill>
                <a:latin typeface="Noto Sans CJK SC"/>
              </a:rPr>
              <a:t>平滑接管
恢复主链路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15968"/>
            <a:ext cx="3429000" cy="960120"/>
          </a:xfrm>
          <a:prstGeom prst="roundRect">
            <a:avLst/>
          </a:prstGeom>
          <a:solidFill>
            <a:srgbClr val="111D2E"/>
          </a:solidFill>
          <a:ln w="15240">
            <a:solidFill>
              <a:srgbClr val="FFC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0584" bIns="73152"/>
          <a:lstStyle/>
          <a:p>
            <a:pPr algn="ctr"/>
            <a:r>
              <a:rPr sz="1050" b="1">
                <a:solidFill>
                  <a:srgbClr val="FFC947"/>
                </a:solidFill>
                <a:latin typeface="Noto Sans CJK SC"/>
              </a:rPr>
              <a:t>深度静默</a:t>
            </a:r>
          </a:p>
          <a:p>
            <a:pPr>
              <a:spcBef>
                <a:spcPts val="200"/>
              </a:spcBef>
            </a:pPr>
            <a:r>
              <a:rPr sz="890">
                <a:solidFill>
                  <a:srgbClr val="F8FAFC"/>
                </a:solidFill>
                <a:latin typeface="Noto Sans CJK SC"/>
              </a:rPr>
              <a:t>主 SoC 深睡眠/断电，协议与路由主链路完全静默。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4315968"/>
            <a:ext cx="3429000" cy="960120"/>
          </a:xfrm>
          <a:prstGeom prst="roundRect">
            <a:avLst/>
          </a:prstGeom>
          <a:solidFill>
            <a:srgbClr val="111D2E"/>
          </a:solidFill>
          <a:ln w="1524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0584" bIns="73152"/>
          <a:lstStyle/>
          <a:p>
            <a:pPr algn="ctr"/>
            <a:r>
              <a:rPr sz="1050" b="1">
                <a:solidFill>
                  <a:srgbClr val="00F5FF"/>
                </a:solidFill>
                <a:latin typeface="Noto Sans CJK SC"/>
              </a:rPr>
              <a:t>多源异步硬唤醒</a:t>
            </a:r>
          </a:p>
          <a:p>
            <a:pPr>
              <a:spcBef>
                <a:spcPts val="200"/>
              </a:spcBef>
            </a:pPr>
            <a:r>
              <a:rPr sz="890">
                <a:solidFill>
                  <a:srgbClr val="F8FAFC"/>
                </a:solidFill>
                <a:latin typeface="Noto Sans CJK SC"/>
              </a:rPr>
              <a:t>C51 捕捉总线活动、串口脉冲或外部传感信号后直接拉起 PMIC。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9872" y="4315968"/>
            <a:ext cx="3429000" cy="960120"/>
          </a:xfrm>
          <a:prstGeom prst="roundRect">
            <a:avLst/>
          </a:prstGeom>
          <a:solidFill>
            <a:srgbClr val="111D2E"/>
          </a:solidFill>
          <a:ln w="15240">
            <a:solidFill>
              <a:srgbClr val="FF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0584" bIns="73152"/>
          <a:lstStyle/>
          <a:p>
            <a:pPr algn="ctr"/>
            <a:r>
              <a:rPr sz="1050" b="1">
                <a:solidFill>
                  <a:srgbClr val="FF784E"/>
                </a:solidFill>
                <a:latin typeface="Noto Sans CJK SC"/>
              </a:rPr>
              <a:t>Fail-safe 就绪</a:t>
            </a:r>
          </a:p>
          <a:p>
            <a:pPr>
              <a:spcBef>
                <a:spcPts val="200"/>
              </a:spcBef>
            </a:pPr>
            <a:r>
              <a:rPr sz="890">
                <a:solidFill>
                  <a:srgbClr val="F8FAFC"/>
                </a:solidFill>
                <a:latin typeface="Noto Sans CJK SC"/>
              </a:rPr>
              <a:t>唤醒后完成重载初始化，再将总线控制权安全移交大核接入层。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440680"/>
            <a:ext cx="10881360" cy="512064"/>
          </a:xfrm>
          <a:prstGeom prst="roundRect">
            <a:avLst/>
          </a:prstGeom>
          <a:solidFill>
            <a:srgbClr val="0A2231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73152"/>
          <a:lstStyle/>
          <a:p>
            <a:pPr algn="ctr"/>
            <a:r>
              <a:rPr sz="1000" b="1">
                <a:solidFill>
                  <a:srgbClr val="F8FAFC"/>
                </a:solidFill>
                <a:latin typeface="Noto Sans CJK SC"/>
              </a:rPr>
              <a:t>功耗控制边界：C51 只负责“监听—上电—移交”，anyMSG / IPC / 小核路由链路在主控上电后才恢复工作。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/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300" b="0">
                <a:solidFill>
                  <a:srgbClr val="F8FAFC"/>
                </a:solidFill>
                <a:latin typeface="Microsoft YaHei UI"/>
              </a:rPr>
              <a:t>工程落地：Nix 工具链的可追溯交付价值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00" b="0">
                <a:solidFill>
                  <a:srgbClr val="B8C2D0"/>
                </a:solidFill>
                <a:latin typeface="Microsoft YaHei UI"/>
              </a:rPr>
              <a:t>不是炫技，而是面向车载软件流程的版本锁定、可复现与 Traceability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625328" y="393192"/>
            <a:ext cx="877824" cy="219456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/>
          <a:lstStyle/>
          <a:p>
            <a:pPr algn="r" indent="0" marL="0">
              <a:buNone/>
            </a:pPr>
            <a:r>
              <a:rPr sz="800" b="0">
                <a:solidFill>
                  <a:srgbClr val="FFD25A"/>
                </a:solidFill>
                <a:latin typeface="JetBrains Mono"/>
              </a:rPr>
              <a:t>P10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585448" y="502920"/>
            <a:ext cx="164592" cy="0"/>
          </a:xfrm>
          <a:prstGeom prst="line">
            <a:avLst/>
          </a:prstGeom>
          <a:noFill/>
          <a:ln w="15240">
            <a:solidFill>
              <a:srgbClr val="FFD25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94944" y="1170432"/>
            <a:ext cx="3200400" cy="148132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Linux 用户态
</a:t>
            </a:r>
            <a:pPr indent="0" marL="0">
              <a:buNone/>
            </a:pPr>
            <a:r>
              <a:rPr lang="en-US" sz="86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riscv64-unknown-linux-gnu-gcc</a:t>
            </a:r>
            <a:endParaRPr lang="en-US" sz="1300" dirty="0"/>
          </a:p>
          <a:p>
            <a:pPr indent="0" marL="0">
              <a:buNone/>
            </a:pPr>
            <a:r>
              <a:rPr lang="en-US" sz="86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大核应用 / 协议适配器 / CLI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9704" y="1170432"/>
            <a:ext cx="3200400" cy="148132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66FF8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FreeRTOS 小核
</a:t>
            </a:r>
            <a:pPr indent="0" marL="0">
              <a:buNone/>
            </a:pPr>
            <a:r>
              <a:rPr lang="en-US" sz="86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riscv64-none-elf-gcc</a:t>
            </a:r>
            <a:endParaRPr lang="en-US" sz="1300" dirty="0"/>
          </a:p>
          <a:p>
            <a:pPr indent="0" marL="0">
              <a:buNone/>
            </a:pPr>
            <a:r>
              <a:rPr lang="en-US" sz="86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小核 ELF / 裸机链接 / 路由任务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84464" y="1170432"/>
            <a:ext cx="3200400" cy="148132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 静态后端
</a:t>
            </a:r>
            <a:pPr indent="0" marL="0">
              <a:buNone/>
            </a:pPr>
            <a:r>
              <a:rPr lang="en-US" sz="86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riscv64-unknown-linux-musl-gcc</a:t>
            </a:r>
            <a:endParaRPr lang="en-US" sz="1300" dirty="0"/>
          </a:p>
          <a:p>
            <a:pPr indent="0" marL="0">
              <a:buNone/>
            </a:pPr>
            <a:r>
              <a:rPr lang="en-US" sz="86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Rust Axum / 静态链接 / rootfs 运行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5166360" cy="1965960"/>
          </a:xfrm>
          <a:prstGeom prst="roundRect">
            <a:avLst>
              <a:gd name="adj" fmla="val 2791"/>
            </a:avLst>
          </a:prstGeom>
          <a:solidFill>
            <a:srgbClr val="02080D"/>
          </a:solidFill>
          <a:ln w="12700">
            <a:solidFill>
              <a:srgbClr val="00F5FF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78992" y="335584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nix develop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cmake -S . -B build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cmake --build build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ctest --test-dir build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./scripts/package_rootfs.sh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3090672"/>
            <a:ext cx="4480560" cy="1965960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704D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180" b="1">
                <a:solidFill>
                  <a:srgbClr val="00F5FF"/>
                </a:solidFill>
                <a:latin typeface="Microsoft YaHei UI"/>
              </a:rPr>
              <a:t>自动化开发流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1080" b="0">
                <a:solidFill>
                  <a:srgbClr val="F8FAFC"/>
                </a:solidFill>
                <a:latin typeface="Microsoft YaHei UI"/>
              </a:rPr>
              <a:t>• tasks.json 一键构建 Host 模拟器</a:t>
            </a:r>
          </a:p>
          <a:p>
            <a:pPr>
              <a:spcBef>
                <a:spcPts val="200"/>
              </a:spcBef>
            </a:pPr>
            <a:r>
              <a:rPr sz="1080" b="0">
                <a:solidFill>
                  <a:srgbClr val="F8FAFC"/>
                </a:solidFill>
                <a:latin typeface="Microsoft YaHei UI"/>
              </a:rPr>
              <a:t>• RISC‑V 目标编译与打包</a:t>
            </a:r>
          </a:p>
          <a:p>
            <a:pPr>
              <a:spcBef>
                <a:spcPts val="200"/>
              </a:spcBef>
            </a:pPr>
            <a:r>
              <a:rPr sz="1080" b="0">
                <a:solidFill>
                  <a:srgbClr val="F8FAFC"/>
                </a:solidFill>
                <a:latin typeface="Microsoft YaHei UI"/>
              </a:rPr>
              <a:t>• ctest 覆盖 anyMSG 编解码、分片重组、共享内存模型</a:t>
            </a:r>
          </a:p>
          <a:p>
            <a:pPr>
              <a:spcBef>
                <a:spcPts val="200"/>
              </a:spcBef>
            </a:pPr>
            <a:r>
              <a:rPr sz="1080" b="0">
                <a:solidFill>
                  <a:srgbClr val="F8FAFC"/>
                </a:solidFill>
                <a:latin typeface="Microsoft YaHei UI"/>
              </a:rPr>
              <a:t>• 构建命令与工具链版本进入项目基线，可被审计追溯</a:t>
            </a:r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10287000" cy="56692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pPr indent="0" marL="0">
              <a:buNone/>
            </a:pPr>
            <a:r>
              <a:rPr sz="1250" b="1">
                <a:solidFill>
                  <a:srgbClr val="00F5FF"/>
                </a:solidFill>
                <a:latin typeface="Microsoft YaHei UI"/>
              </a:rPr>
              <a:t>车载工程价值</a:t>
            </a:r>
            <a:endParaRPr lang="en-US" sz="1300" dirty="0"/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F8FAFC"/>
                </a:solidFill>
                <a:latin typeface="Microsoft YaHei UI"/>
              </a:rPr>
              <a:t>对齐 ISO 26262 流程关注点：工具链版本锁定、构建输入可追溯、CI / 产线 / 开发机环境一致。Nix 将 Linux GCC、小核 ELF 编译器、Rust/Node 依赖全部代码化，降低基线漂移与交付风险。</a:t>
            </a:r>
          </a:p>
        </p:txBody>
      </p:sp>
      <p:sp>
        <p:nvSpPr>
          <p:cNvPr id="16" name="Text 14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/>
          <a:lstStyle/>
          <a:p>
            <a:pPr algn="r" indent="0" marL="0">
              <a:buNone/>
            </a:pPr>
            <a:r>
              <a:rPr sz="800" b="0">
                <a:solidFill>
                  <a:srgbClr val="B8C2D0"/>
                </a:solidFill>
                <a:latin typeface="JetBrains Mono"/>
              </a:rPr>
              <a:t>P10 · 6:35-7:10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ultra_detailed_sci_fi_industrial_infograph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>
              <a:alpha val="82000"/>
            </a:srgbClr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商业价值：车载与工业物联网的统一网关底座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7863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一套异构网关架构，同时服务车载 T-Box 与工业现场升级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625328" y="393192"/>
            <a:ext cx="877824" cy="219456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/>
          <a:lstStyle/>
          <a:p>
            <a:pPr algn="r" indent="0" marL="0">
              <a:buNone/>
            </a:pPr>
            <a:r>
              <a:rPr sz="800" b="0">
                <a:solidFill>
                  <a:srgbClr val="FFD25A"/>
                </a:solidFill>
                <a:latin typeface="JetBrains Mono"/>
              </a:rPr>
              <a:t>P11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1585448" y="502920"/>
            <a:ext cx="164592" cy="0"/>
          </a:xfrm>
          <a:prstGeom prst="line">
            <a:avLst/>
          </a:prstGeom>
          <a:noFill/>
          <a:ln w="15240">
            <a:solidFill>
              <a:srgbClr val="FFD25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8368" y="1225296"/>
            <a:ext cx="3246120" cy="1444752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车载智能网关 / T-Box
</a:t>
            </a:r>
            <a:pPr indent="0" marL="0">
              <a:buNone/>
            </a:pPr>
            <a:r>
              <a:rPr lang="en-US" sz="94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CAN / UDS 控制网络与 Wi‑Fi / Bluetooth / 4G 数据链路，保障控制实时性与安全隔离。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75320" y="1225296"/>
            <a:ext cx="3246120" cy="1444752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 4.0 异构物联网
</a:t>
            </a:r>
            <a:pPr indent="0" marL="0">
              <a:buNone/>
            </a:pPr>
            <a:r>
              <a:rPr lang="en-US" sz="94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打通 RS485 仪表、以太网 PLC 与无线传感网络，低成本完成传统现场的网络化升级。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97680" y="4498848"/>
            <a:ext cx="3611880" cy="987552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66FF8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国产化与高性价比
</a:t>
            </a:r>
            <a:pPr indent="0" marL="0">
              <a:buNone/>
            </a:pPr>
            <a:r>
              <a:rPr lang="en-US" sz="90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基于国产 RISC‑V 异构双核平台，用低成本硬件承载多协议软路由能力。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94760" y="2907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2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降本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794760" y="32918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减少转换器堆叠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440680" y="2907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降抖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440680" y="32918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控制链路更稳定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086600" y="2907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FF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可扩展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086600" y="32918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新增接口不改小核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/>
          <a:lstStyle/>
          <a:p>
            <a:pPr algn="r" indent="0" marL="0">
              <a:buNone/>
            </a:pPr>
            <a:r>
              <a:rPr sz="800" b="0">
                <a:solidFill>
                  <a:srgbClr val="B8C2D0"/>
                </a:solidFill>
                <a:latin typeface="JetBrains Mono"/>
              </a:rPr>
              <a:t>P11 · 7:10-7:45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ramatic_futuristic_abstract_scene_a_dark_high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A">
              <a:alpha val="82000"/>
            </a:srgbClr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25A">
              <a:alpha val="38000"/>
            </a:srgbClr>
          </a:solidFill>
          <a:ln w="12700">
            <a:solidFill>
              <a:srgbClr val="FFD2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2834640" y="201168"/>
            <a:ext cx="9354312" cy="6126480"/>
          </a:xfrm>
          <a:prstGeom prst="rect">
            <a:avLst/>
          </a:prstGeom>
          <a:solidFill>
            <a:srgbClr val="06101A">
              <a:alpha val="88000"/>
            </a:srgbClr>
          </a:solidFill>
          <a:ln w="12700">
            <a:solidFill>
              <a:srgbClr val="0610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977640" y="120700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传承火种，连接未来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43484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多协议统一终端（PUT）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11880" y="2834640"/>
            <a:ext cx="2286000" cy="65836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00F5FF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anyMSG
</a:t>
            </a:r>
            <a:pPr indent="0" marL="0">
              <a:buNone/>
            </a:pPr>
            <a:r>
              <a:rPr lang="en-US" sz="7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物理与业务解耦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0" y="2834640"/>
            <a:ext cx="2286000" cy="65836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66FF8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FF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AMP 双核
</a:t>
            </a:r>
            <a:pPr indent="0" marL="0">
              <a:buNone/>
            </a:pPr>
            <a:r>
              <a:rPr lang="en-US" sz="7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吞吐与实时解耦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11880" y="3794760"/>
            <a:ext cx="2286000" cy="65836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D25A">
                <a:alpha val="80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共享内存 v2
</a:t>
            </a:r>
            <a:pPr indent="0" marL="0">
              <a:buNone/>
            </a:pPr>
            <a:r>
              <a:rPr lang="en-US" sz="780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跨核零拷贝流转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17920" y="3794760"/>
            <a:ext cx="2286000" cy="658368"/>
          </a:xfrm>
          <a:prstGeom prst="rect">
            <a:avLst/>
          </a:prstGeom>
          <a:solidFill>
            <a:srgbClr val="0E1A2A">
              <a:alpha val="92000"/>
            </a:srgbClr>
          </a:solidFill>
          <a:ln w="15240">
            <a:solidFill>
              <a:srgbClr val="FF704D">
                <a:alpha val="80000"/>
              </a:srgbClr>
            </a:solidFill>
          </a:ln>
        </p:spPr>
        <p:txBody>
          <a:bodyPr wrap="square" lIns="0" tIns="2032" rIns="0" bIns="2032" rtlCol="0" anchor="t">
            <a:normAutofit/>
          </a:bodyPr>
          <a:lstStyle/>
          <a:p>
            <a:r>
              <a:rPr sz="1300" b="1">
                <a:solidFill>
                  <a:srgbClr val="00F5FF"/>
                </a:solidFill>
                <a:latin typeface="Noto Sans CJK SC"/>
              </a:rPr>
              <a:t>工程化落地
</a:t>
            </a:r>
            <a:r>
              <a:rPr sz="780">
                <a:solidFill>
                  <a:srgbClr val="F4F8FF"/>
                </a:solidFill>
                <a:latin typeface="Noto Sans CJK SC"/>
              </a:rPr>
              <a:t>低功耗 / Nix / Web 可观测</a:t>
            </a:r>
          </a:p>
        </p:txBody>
      </p:sp>
      <p:sp>
        <p:nvSpPr>
          <p:cNvPr id="13" name="Text 10"/>
          <p:cNvSpPr/>
          <p:nvPr/>
        </p:nvSpPr>
        <p:spPr>
          <a:xfrm>
            <a:off x="3749040" y="530352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感谢各位评委老师的聆听！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4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请各位老师批评指正。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2920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070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 · 多协议统一终端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509760" y="6565392"/>
            <a:ext cx="2194560" cy="146304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/>
          <a:lstStyle/>
          <a:p>
            <a:pPr algn="r" indent="0" marL="0">
              <a:buNone/>
            </a:pPr>
            <a:r>
              <a:rPr sz="800" b="0">
                <a:solidFill>
                  <a:srgbClr val="B8C2D0"/>
                </a:solidFill>
                <a:latin typeface="JetBrains Mono"/>
              </a:rPr>
              <a:t>P12 · 7:45-8:30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埃泰克“火种计划”技术创新大赛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多协议统一终端（PUT）项目答辩</dc:title>
  <dc:subject>多协议统一终端（PUT）项目答辩</dc:subject>
  <dc:creator>OpenAI</dc:creator>
  <cp:lastModifiedBy>OpenAI</cp:lastModifiedBy>
  <cp:revision>1</cp:revision>
  <dcterms:created xsi:type="dcterms:W3CDTF">2026-06-02T13:25:17Z</dcterms:created>
  <dcterms:modified xsi:type="dcterms:W3CDTF">2026-06-02T13:25:17Z</dcterms:modified>
</cp:coreProperties>
</file>